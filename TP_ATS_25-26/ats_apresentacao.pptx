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5080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"/>
            <a:ext cx="822960" cy="822960"/>
          </a:xfrm>
          <a:prstGeom prst="rect">
            <a:avLst/>
          </a:prstGeom>
        </p:spPr>
      </p:pic>
      <p:pic>
        <p:nvPicPr>
          <p:cNvPr id="5" name="Picture 4" descr="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1148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Universidade do Minho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Escola de Engenharia  ·  LEI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3474720" cy="12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468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Grupo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34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DD7EE"/>
                </a:solidFill>
              </a:rPr>
              <a:t>Rui Miguel Sampaio Castro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455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CC"/>
                </a:solidFill>
              </a:rPr>
              <a:t>a100753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5112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DD7EE"/>
                </a:solidFill>
              </a:rPr>
              <a:t>José Mário Raimundo Lima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822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CC"/>
                </a:solidFill>
              </a:rPr>
              <a:t>a106888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1879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DD7EE"/>
                </a:solidFill>
              </a:rPr>
              <a:t>Nuno Francisco Rocha Soares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498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CC"/>
                </a:solidFill>
              </a:rPr>
              <a:t>a107366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64592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F3864"/>
                </a:solidFill>
              </a:rPr>
              <a:t>Análise e Teste
de Software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3063240"/>
            <a:ext cx="5029200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246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55"/>
                </a:solidFill>
              </a:rPr>
              <a:t>Trabalho Prático  ·  2025 /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404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55"/>
                </a:solidFill>
              </a:rPr>
              <a:t>16 de Maio de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229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04672"/>
            <a:ext cx="12024360" cy="254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Índice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81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Testes JUnit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38528"/>
            <a:ext cx="381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EvoSuite — Geração Automática de Testes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88336"/>
            <a:ext cx="381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797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797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Cobertura de Código — JaCoCo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38144"/>
            <a:ext cx="381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295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Mutation Testing — PIT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87952"/>
            <a:ext cx="381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79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793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Property-Based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937760"/>
            <a:ext cx="381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29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</a:rPr>
              <a:t>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29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Automação com Makefile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229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04672"/>
            <a:ext cx="12024360" cy="254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Testes JUnit  (Tarefa 1)</a:t>
            </a:r>
          </a:p>
        </p:txBody>
      </p:sp>
      <p:pic>
        <p:nvPicPr>
          <p:cNvPr id="6" name="Picture 5" descr="gradlejuni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92414"/>
            <a:ext cx="5577840" cy="2713251"/>
          </a:xfrm>
          <a:prstGeom prst="rect">
            <a:avLst/>
          </a:prstGeom>
        </p:spPr>
      </p:pic>
      <p:pic>
        <p:nvPicPr>
          <p:cNvPr id="7" name="Picture 6" descr="juni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130558"/>
            <a:ext cx="5760720" cy="12369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229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04672"/>
            <a:ext cx="12024360" cy="254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EvoSuite — Geração Automática de Testes  (Tarefa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12 classes testadas automaticamente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807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80744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Budget: 60 segundos por 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013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01368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Cobertura média: 90.2%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2199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2199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Melhor: MusicMultimedia  97.8%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960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60120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Pior: PlaylistCreator  85.1%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3807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80744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Testes integrados na suite Maven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013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01368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Script Python corrige Java 8 → Java 21</a:t>
            </a:r>
          </a:p>
        </p:txBody>
      </p:sp>
      <p:pic>
        <p:nvPicPr>
          <p:cNvPr id="20" name="Picture 19" descr="evosuite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500331"/>
            <a:ext cx="11521440" cy="23262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229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04672"/>
            <a:ext cx="12024360" cy="254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Cobertura de Código — JaCoCo  (Tarefa 3)</a:t>
            </a:r>
          </a:p>
        </p:txBody>
      </p:sp>
      <p:pic>
        <p:nvPicPr>
          <p:cNvPr id="6" name="Picture 5" descr="jacoc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4581"/>
            <a:ext cx="11521440" cy="45489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229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04672"/>
            <a:ext cx="12024360" cy="254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Cobertura de Código — JaCoCo  (Tarefa 3)</a:t>
            </a:r>
          </a:p>
        </p:txBody>
      </p:sp>
      <p:pic>
        <p:nvPicPr>
          <p:cNvPr id="6" name="Picture 5" descr="jacoc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12470"/>
            <a:ext cx="11521440" cy="3073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229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04672"/>
            <a:ext cx="12024360" cy="254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Mutation Testing — PIT  (Tarefa 4)</a:t>
            </a:r>
          </a:p>
        </p:txBody>
      </p:sp>
      <p:pic>
        <p:nvPicPr>
          <p:cNvPr id="6" name="Picture 5" descr="pit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78832"/>
            <a:ext cx="5577840" cy="2940416"/>
          </a:xfrm>
          <a:prstGeom prst="rect">
            <a:avLst/>
          </a:prstGeom>
        </p:spPr>
      </p:pic>
      <p:pic>
        <p:nvPicPr>
          <p:cNvPr id="7" name="Picture 6" descr="pit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91519"/>
            <a:ext cx="5760720" cy="27150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229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04672"/>
            <a:ext cx="12024360" cy="254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Property-Based Testing  (Tarefa 5  +  Extra)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532120" cy="5120640"/>
          </a:xfrm>
          <a:prstGeom prst="rect">
            <a:avLst/>
          </a:prstGeom>
          <a:solidFill>
            <a:srgbClr val="F7F8FA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5532120" cy="50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Projeto1  —  Hypothesis + JUnit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4 propriedades  ×  200 casos  =  800 testes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Hypothesis (Python) gera dados aleatórios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9514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Dados exportados para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8833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JUnit lê com @ParameterizedTest + @CsvFileSource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Propriedades verificadas: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  acumulação de pontos por plano de subscrição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6791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  contagem de reproduções de músicas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6110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  tamanho de álbum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5429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  matriz de permissões por plano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960120"/>
            <a:ext cx="5532120" cy="5120640"/>
          </a:xfrm>
          <a:prstGeom prst="rect">
            <a:avLst/>
          </a:prstGeom>
          <a:solidFill>
            <a:srgbClr val="F0FBF4"/>
          </a:solidFill>
          <a:ln w="15240">
            <a:solidFill>
              <a:srgbClr val="1E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960120"/>
            <a:ext cx="5532120" cy="50800"/>
          </a:xfrm>
          <a:prstGeom prst="rect">
            <a:avLst/>
          </a:prstGeom>
          <a:solidFill>
            <a:srgbClr val="1E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0515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6B3A"/>
                </a:solidFill>
              </a:rPr>
              <a:t>Projeto2  —  jqwik (Java nativo)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50876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16 propriedades definidas com @Property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9019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Inputs aleatórios gerados em runtime pelo jqwik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29514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Sem ficheiros intermédios — tudo em 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68833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Propriedades verificadas: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0815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  Song: incrementTimesPlayed, clone, tipos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7472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  SubscriptionPlan: addPoints, permissões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6791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  Album: duração total, tamanho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6110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   User: acumulação de pontos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65429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·  Ex: FreePlan.addPoints(p) == p + 5  ∀p ≥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2362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55"/>
                </a:solidFill>
              </a:rPr>
              <a:t>PBT encontra casos extremos que testes unitários clássicos normalmente não cobrem — complementam-se.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2296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804672"/>
            <a:ext cx="12024360" cy="254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</a:rPr>
              <a:t>Automação com Makefile</a:t>
            </a:r>
          </a:p>
        </p:txBody>
      </p:sp>
      <p:pic>
        <p:nvPicPr>
          <p:cNvPr id="6" name="Picture 5" descr="m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83" y="914400"/>
            <a:ext cx="10591353" cy="5669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5080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"/>
            <a:ext cx="822960" cy="822960"/>
          </a:xfrm>
          <a:prstGeom prst="rect">
            <a:avLst/>
          </a:prstGeom>
        </p:spPr>
      </p:pic>
      <p:pic>
        <p:nvPicPr>
          <p:cNvPr id="5" name="Picture 4" descr="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1148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Universidade do Minho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Escola de Engenharia  ·  LEI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3474720" cy="12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468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Grupo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34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DD7EE"/>
                </a:solidFill>
              </a:rPr>
              <a:t>Rui Miguel Sampaio Castro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455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CC"/>
                </a:solidFill>
              </a:rPr>
              <a:t>a100753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51129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DD7EE"/>
                </a:solidFill>
              </a:rPr>
              <a:t>José Mário Raimundo Lima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822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CC"/>
                </a:solidFill>
              </a:rPr>
              <a:t>a106888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1879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DD7EE"/>
                </a:solidFill>
              </a:rPr>
              <a:t>Nuno Francisco Rocha Soares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498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CC"/>
                </a:solidFill>
              </a:rPr>
              <a:t>a107366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64592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F3864"/>
                </a:solidFill>
              </a:rPr>
              <a:t>Análise e Teste
de Software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3063240"/>
            <a:ext cx="5029200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246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55"/>
                </a:solidFill>
              </a:rPr>
              <a:t>Trabalho Prático  ·  2025 /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404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55"/>
                </a:solidFill>
              </a:rPr>
              <a:t>16 de Maio de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BB"/>
                </a:solidFill>
              </a:rPr>
              <a:t>1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